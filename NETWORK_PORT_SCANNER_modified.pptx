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33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504527"/>
            <a:ext cx="4000500" cy="4043363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428625" y="421481"/>
            <a:ext cx="39005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┌─────────────────────────────────────┐</a:t>
            </a:r>
            <a:endParaRPr lang="en-US" sz="621" dirty="0"/>
          </a:p>
        </p:txBody>
      </p:sp>
      <p:sp>
        <p:nvSpPr>
          <p:cNvPr id="5" name="Text 2"/>
          <p:cNvSpPr/>
          <p:nvPr/>
        </p:nvSpPr>
        <p:spPr>
          <a:xfrm>
            <a:off x="642938" y="778669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42938" y="1025128"/>
            <a:ext cx="3571875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2" dirty="0">
                <a:solidFill>
                  <a:srgbClr val="00FF41"/>
                </a:solidFill>
              </a:rPr>
              <a:t>NETWORK
PORT
SCANNER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642938" y="2802136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E0E0E0"/>
                </a:solidFill>
              </a:rPr>
              <a:t># Python Scripting Mini Project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642938" y="3400425"/>
            <a:ext cx="7907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INSTITUTION: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540845" y="3400425"/>
            <a:ext cx="1920398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    Karunya Institute of Technology &amp; Science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42938" y="3641527"/>
            <a:ext cx="5999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SEMESTER: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350057" y="3641527"/>
            <a:ext cx="561051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            SEM 1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42938" y="3882628"/>
            <a:ext cx="8563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PRESENTED BY: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1606451" y="3882628"/>
            <a:ext cx="1335302" cy="4162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Prasad - PRK25DS1015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Vinoth Karthik - PRK25DS1012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Gokul Raj - PRK25DS1018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14475" y="4104085"/>
            <a:ext cx="599768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321594" y="4123730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28625" y="4595217"/>
            <a:ext cx="39005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└─────────────────────────────────────┘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4714875" y="1605725"/>
            <a:ext cx="4000500" cy="1932022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1725802"/>
            <a:ext cx="3786188" cy="150434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22031" y="3301585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00D9FF"/>
                </a:solidFill>
              </a:rPr>
              <a:t>[PORT_SCANNING_ARCHITECTURE]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46836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695176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PROJECT ABSTRACT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191667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Text 3"/>
          <p:cNvSpPr/>
          <p:nvPr/>
        </p:nvSpPr>
        <p:spPr>
          <a:xfrm>
            <a:off x="357188" y="2112318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[1]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607219" y="2112318"/>
            <a:ext cx="38219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Objective:</a:t>
            </a:r>
            <a:r>
              <a:rPr lang="en-US" sz="780" dirty="0">
                <a:solidFill>
                  <a:srgbClr val="E0E0E0"/>
                </a:solidFill>
              </a:rPr>
              <a:t> Develop a Python-based automated Network Port Scanner to identify port states (open, closed, filtered) on target systems.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357188" y="2548086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[2]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607219" y="2548086"/>
            <a:ext cx="38219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Core Mechanism:</a:t>
            </a:r>
            <a:r>
              <a:rPr lang="en-US" sz="780" dirty="0">
                <a:solidFill>
                  <a:srgbClr val="E0E0E0"/>
                </a:solidFill>
              </a:rPr>
              <a:t> Utilizes socket programming to send TCP SYN requests and interpret responses (SYN-ACK/RST).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357188" y="2983855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[3]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607219" y="2983855"/>
            <a:ext cx="38219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Integration:</a:t>
            </a:r>
            <a:r>
              <a:rPr lang="en-US" sz="780" dirty="0">
                <a:solidFill>
                  <a:srgbClr val="E0E0E0"/>
                </a:solidFill>
              </a:rPr>
              <a:t> Implements a Flask REST API to provide scanned results in structured JSON format.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357188" y="3419624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[4]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607219" y="3419624"/>
            <a:ext cx="38219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Application:</a:t>
            </a:r>
            <a:r>
              <a:rPr lang="en-US" sz="780" dirty="0">
                <a:solidFill>
                  <a:srgbClr val="E0E0E0"/>
                </a:solidFill>
              </a:rPr>
              <a:t> Designed for security auditing, identifying active services, and detecting potential vulnerabilities.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357188" y="4184005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KEYWORDS: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57188" y="4391174"/>
            <a:ext cx="507736" cy="22681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Python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980368" y="4391174"/>
            <a:ext cx="819773" cy="22681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Port Scanner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1915585" y="4391174"/>
            <a:ext cx="331264" cy="22681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TCP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362293" y="4391174"/>
            <a:ext cx="607972" cy="22681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Flask API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085709" y="4391174"/>
            <a:ext cx="862050" cy="22681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D9FF"/>
                </a:solidFill>
              </a:rPr>
              <a:t>Cybersecurity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500688" y="2446288"/>
            <a:ext cx="2500313" cy="1752005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3" y="2598539"/>
            <a:ext cx="2214563" cy="124569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43563" y="3929955"/>
            <a:ext cx="2214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00D9FF"/>
                </a:solidFill>
              </a:rPr>
              <a:t>[TCP_HANDSHAKE_MECHANISM]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95250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622064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EXISTING SYSTEM: METHODS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118555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357188" y="1750107"/>
            <a:ext cx="4071938" cy="913647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1750107"/>
            <a:ext cx="21431" cy="91364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464344" y="1857263"/>
            <a:ext cx="38576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[METHOD 1] Manual Port Checking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464344" y="2060860"/>
            <a:ext cx="38576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Using command-line tools like telnet or netcat to check ports individually.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64344" y="2262308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Time-consuming process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464344" y="2409453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Requires high technical knowledge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357188" y="2792341"/>
            <a:ext cx="4071938" cy="913647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57188" y="2792341"/>
            <a:ext cx="21431" cy="91364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64344" y="2262308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464344" y="2409453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464344" y="2899497"/>
            <a:ext cx="38576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[METHOD 2] Large Tools (Nmap)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464344" y="3103094"/>
            <a:ext cx="38576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Comprehensive, feature-rich network mapping tools.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64344" y="3304542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Heavy and complex installation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464344" y="3451687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Steep learning curve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357188" y="3834575"/>
            <a:ext cx="4071938" cy="913647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57188" y="3834575"/>
            <a:ext cx="21431" cy="91364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464344" y="3304542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64344" y="3451687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464344" y="3941731"/>
            <a:ext cx="38576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[METHOD 3] Basic Scanners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464344" y="4145328"/>
            <a:ext cx="38576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Simple scripts without advanced features.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64344" y="4346777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Cannot customize results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64344" y="4493921"/>
            <a:ext cx="3857625" cy="111426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Limited reporting capabilities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64344" y="4346777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464344" y="4493921"/>
            <a:ext cx="714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✗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5500688" y="2373176"/>
            <a:ext cx="2500313" cy="1752005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3" y="2525427"/>
            <a:ext cx="2214563" cy="124569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643563" y="3856844"/>
            <a:ext cx="2214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00D9FF"/>
                </a:solidFill>
              </a:rPr>
              <a:t>[NMAP_ARCHITECTURE]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99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031" y="25003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250031" y="462558"/>
            <a:ext cx="864393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EXISTING SYSTEM: LIMITATIONS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250031" y="923330"/>
            <a:ext cx="8643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250031" y="1157288"/>
            <a:ext cx="4250531" cy="998674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50031" y="1157288"/>
            <a:ext cx="21431" cy="99867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35756" y="1243013"/>
            <a:ext cx="40790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[IMPACT] Manual Checking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35756" y="1435894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Scanning 1000 ports manually takes hours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335756" y="1594479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Error-prone and unreliable results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35756" y="1753065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Cannot integrate with automation tools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35756" y="1911651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Not suitable for large-scale networks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250031" y="2241686"/>
            <a:ext cx="4250531" cy="998674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0031" y="2241686"/>
            <a:ext cx="21431" cy="99867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335756" y="1435894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335756" y="1594479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335756" y="1753065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335756" y="1911651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335756" y="2327411"/>
            <a:ext cx="40790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[IMPACT] Large Tools (Nmap)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335756" y="2520293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Complex installation and configuration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335756" y="2678878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Difficult to integrate with web services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335756" y="2837464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Overkill for simple scanning tasks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35756" y="2996050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Limited customization for specific needs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250031" y="3326085"/>
            <a:ext cx="4250531" cy="998674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0031" y="3326085"/>
            <a:ext cx="21431" cy="99867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335756" y="2520293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335756" y="2678878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35756" y="2837464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335756" y="2996050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335756" y="3411810"/>
            <a:ext cx="40790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[IMPACT] Basic Scanners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335756" y="3604692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Output formats not suitable for APIs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335756" y="3763277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real-time progress tracking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335756" y="3921863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Difficult to scale or extend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335756" y="4080449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Lacks security assessment features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335756" y="3604692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335756" y="3763277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35756" y="3921863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335756" y="4080449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⚠</a:t>
            </a:r>
            <a:endParaRPr lang="en-US" sz="584" dirty="0"/>
          </a:p>
        </p:txBody>
      </p:sp>
      <p:sp>
        <p:nvSpPr>
          <p:cNvPr id="39" name="Shape 36"/>
          <p:cNvSpPr/>
          <p:nvPr/>
        </p:nvSpPr>
        <p:spPr>
          <a:xfrm>
            <a:off x="4643438" y="1157288"/>
            <a:ext cx="4250531" cy="118583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29163" y="1243013"/>
            <a:ext cx="40790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D9FF"/>
                </a:solidFill>
              </a:rPr>
              <a:t>CRITICAL GAPS: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4729163" y="1435894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</a:t>
            </a:r>
            <a:r>
              <a:rPr lang="en-US" sz="584" b="1" dirty="0">
                <a:solidFill>
                  <a:srgbClr val="00FF41"/>
                </a:solidFill>
              </a:rPr>
              <a:t>JSON API</a:t>
            </a:r>
            <a:r>
              <a:rPr lang="en-US" sz="621" dirty="0">
                <a:solidFill>
                  <a:srgbClr val="E0E0E0"/>
                </a:solidFill>
              </a:rPr>
              <a:t> for integration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4729163" y="1594479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</a:t>
            </a:r>
            <a:r>
              <a:rPr lang="en-US" sz="584" b="1" dirty="0">
                <a:solidFill>
                  <a:srgbClr val="00FF41"/>
                </a:solidFill>
              </a:rPr>
              <a:t>real-time progress</a:t>
            </a:r>
            <a:r>
              <a:rPr lang="en-US" sz="621" dirty="0">
                <a:solidFill>
                  <a:srgbClr val="E0E0E0"/>
                </a:solidFill>
              </a:rPr>
              <a:t> updates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4729163" y="1753065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</a:t>
            </a:r>
            <a:r>
              <a:rPr lang="en-US" sz="584" b="1" dirty="0">
                <a:solidFill>
                  <a:srgbClr val="00FF41"/>
                </a:solidFill>
              </a:rPr>
              <a:t>vulnerability detection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4729163" y="1911651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</a:t>
            </a:r>
            <a:r>
              <a:rPr lang="en-US" sz="584" b="1" dirty="0">
                <a:solidFill>
                  <a:srgbClr val="00FF41"/>
                </a:solidFill>
              </a:rPr>
              <a:t>banner grabbing</a:t>
            </a:r>
            <a:r>
              <a:rPr lang="en-US" sz="621" dirty="0">
                <a:solidFill>
                  <a:srgbClr val="E0E0E0"/>
                </a:solidFill>
              </a:rPr>
              <a:t> capability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4729163" y="2070236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No </a:t>
            </a:r>
            <a:r>
              <a:rPr lang="en-US" sz="584" b="1" dirty="0">
                <a:solidFill>
                  <a:srgbClr val="00FF41"/>
                </a:solidFill>
              </a:rPr>
              <a:t>OS fingerprinting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4643438" y="2400272"/>
            <a:ext cx="4250531" cy="118583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29163" y="1435894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4729163" y="1594479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4729163" y="1753065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4729163" y="1911651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4729163" y="2070236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4729163" y="2485997"/>
            <a:ext cx="40790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D9FF"/>
                </a:solidFill>
              </a:rPr>
              <a:t>MODERN REQUIREMENTS: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4729163" y="2678878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API-first architecture needed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4729163" y="2837464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Lightweight and portable solution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4729163" y="2996050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Easy to customize and extend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4729163" y="3154635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Suitable for educational labs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4729163" y="3313221"/>
            <a:ext cx="4079081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JSON output for tool integration</a:t>
            </a:r>
            <a:endParaRPr lang="en-US" sz="621" dirty="0"/>
          </a:p>
        </p:txBody>
      </p:sp>
      <p:sp>
        <p:nvSpPr>
          <p:cNvPr id="58" name="Shape 55"/>
          <p:cNvSpPr/>
          <p:nvPr/>
        </p:nvSpPr>
        <p:spPr>
          <a:xfrm>
            <a:off x="250031" y="4610509"/>
            <a:ext cx="8643938" cy="739378"/>
          </a:xfrm>
          <a:prstGeom prst="rect">
            <a:avLst/>
          </a:prstGeom>
          <a:solidFill>
            <a:srgbClr val="FF6B35">
              <a:alpha val="8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29163" y="2678878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4729163" y="2837464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4729163" y="2996050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62" name="Text 59"/>
          <p:cNvSpPr/>
          <p:nvPr/>
        </p:nvSpPr>
        <p:spPr>
          <a:xfrm>
            <a:off x="4729163" y="3154635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4729163" y="3313221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→</a:t>
            </a:r>
            <a:endParaRPr lang="en-US" sz="584" dirty="0"/>
          </a:p>
        </p:txBody>
      </p:sp>
      <p:sp>
        <p:nvSpPr>
          <p:cNvPr id="64" name="Text 61"/>
          <p:cNvSpPr/>
          <p:nvPr/>
        </p:nvSpPr>
        <p:spPr>
          <a:xfrm>
            <a:off x="350044" y="4710522"/>
            <a:ext cx="8443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kern="0" spc="1" dirty="0">
                <a:solidFill>
                  <a:srgbClr val="FF6B35"/>
                </a:solidFill>
              </a:rPr>
              <a:t>CONCLUSION:</a:t>
            </a:r>
            <a:endParaRPr lang="en-US" sz="734" dirty="0"/>
          </a:p>
        </p:txBody>
      </p:sp>
      <p:sp>
        <p:nvSpPr>
          <p:cNvPr id="65" name="Text 62"/>
          <p:cNvSpPr/>
          <p:nvPr/>
        </p:nvSpPr>
        <p:spPr>
          <a:xfrm>
            <a:off x="350044" y="4928406"/>
            <a:ext cx="84439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Existing methods fail to meet </a:t>
            </a:r>
            <a:r>
              <a:rPr lang="en-US" sz="634" b="1" dirty="0">
                <a:solidFill>
                  <a:srgbClr val="FF6B35"/>
                </a:solidFill>
              </a:rPr>
              <a:t>modern security automation requirements</a:t>
            </a:r>
            <a:r>
              <a:rPr lang="en-US" sz="674" dirty="0">
                <a:solidFill>
                  <a:srgbClr val="E0E0E0"/>
                </a:solidFill>
              </a:rPr>
              <a:t>. There is a critical need for a </a:t>
            </a:r>
            <a:r>
              <a:rPr lang="en-US" sz="634" b="1" dirty="0">
                <a:solidFill>
                  <a:srgbClr val="00FF41"/>
                </a:solidFill>
              </a:rPr>
              <a:t>lightweight, API-driven, customizable port scanner</a:t>
            </a:r>
            <a:r>
              <a:rPr lang="en-US" sz="674" dirty="0">
                <a:solidFill>
                  <a:srgbClr val="E0E0E0"/>
                </a:solidFill>
              </a:rPr>
              <a:t> that integrates seamlessly with contemporary security workflows and educational environments.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467413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694227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PROPOSED SOLUTION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190718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357188" y="1930877"/>
            <a:ext cx="4071938" cy="130116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1930877"/>
            <a:ext cx="21431" cy="130116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464344" y="2038034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D9FF"/>
                </a:solidFill>
              </a:rPr>
              <a:t>KEY FEATURES: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64344" y="2279135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92944" y="2279135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Lightweight &amp; Portable</a:t>
            </a:r>
            <a:r>
              <a:rPr lang="en-US" sz="727" dirty="0">
                <a:solidFill>
                  <a:srgbClr val="E0E0E0"/>
                </a:solidFill>
              </a:rPr>
              <a:t> - Built with Python and minimal dependencies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64344" y="2490574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92944" y="2490574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Automated Scanning</a:t>
            </a:r>
            <a:r>
              <a:rPr lang="en-US" sz="727" dirty="0">
                <a:solidFill>
                  <a:srgbClr val="E0E0E0"/>
                </a:solidFill>
              </a:rPr>
              <a:t> - Scans defined port ranges using efficient threading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64344" y="2702012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92944" y="2702012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Flask REST API</a:t>
            </a:r>
            <a:r>
              <a:rPr lang="en-US" sz="727" dirty="0">
                <a:solidFill>
                  <a:srgbClr val="E0E0E0"/>
                </a:solidFill>
              </a:rPr>
              <a:t> - Provides results via web service endpoint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64344" y="2913450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92944" y="2913450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Advanced Detection</a:t>
            </a:r>
            <a:r>
              <a:rPr lang="en-US" sz="727" dirty="0">
                <a:solidFill>
                  <a:srgbClr val="E0E0E0"/>
                </a:solidFill>
              </a:rPr>
              <a:t> - Accurate open/closed/filtered port identification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357188" y="3374920"/>
            <a:ext cx="4071938" cy="130116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57188" y="3374920"/>
            <a:ext cx="21431" cy="130116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6"/>
          <p:cNvSpPr/>
          <p:nvPr/>
        </p:nvSpPr>
        <p:spPr>
          <a:xfrm>
            <a:off x="464344" y="3482076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D9FF"/>
                </a:solidFill>
              </a:rPr>
              <a:t>ADVANTAGES: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64344" y="3723177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92944" y="3723177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Easy to use and deploy on any platform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64344" y="3934616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92944" y="3934616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Highly customizable for specific use cases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64344" y="4146054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92944" y="4146054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Faster scanning via multithreading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64344" y="4357492"/>
            <a:ext cx="1428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✓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92944" y="4357492"/>
            <a:ext cx="3629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Ideal for cybersecurity and scripting labs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500688" y="2522581"/>
            <a:ext cx="2500313" cy="1561774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3" y="2676702"/>
            <a:ext cx="2214563" cy="105172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643563" y="3814149"/>
            <a:ext cx="2214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00D9FF"/>
                </a:solidFill>
              </a:rPr>
              <a:t>[SCANNING_MECHANISM]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584002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SOFTWARE REQUIREMENTS (PART 1)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080492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357188" y="1564481"/>
            <a:ext cx="2714625" cy="269464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5775" y="1693069"/>
            <a:ext cx="245745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PROGRAMMING LANGUAGE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85775" y="2014538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Version:</a:t>
            </a:r>
            <a:r>
              <a:rPr lang="en-US" sz="727" dirty="0">
                <a:solidFill>
                  <a:srgbClr val="E0E0E0"/>
                </a:solidFill>
              </a:rPr>
              <a:t>Python 3.12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85775" y="228421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Core scripting and application logic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3214688" y="1564481"/>
            <a:ext cx="2714625" cy="269464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5775" y="20145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3343275" y="1693069"/>
            <a:ext cx="245745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CORE LIBRARIES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343275" y="2014538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socket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343275" y="228421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Low-level TCP connection handling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3343275" y="2467077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threading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343275" y="273675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Concurrent port scanning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343275" y="2919617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json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343275" y="318929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Data serialization and formatting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6072188" y="1564481"/>
            <a:ext cx="2714625" cy="269464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43275" y="20145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343275" y="246707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343275" y="291961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200775" y="1693069"/>
            <a:ext cx="245745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WEB FRAMEWORK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200775" y="2014538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Flask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200775" y="228421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RESTful API and web server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6200775" y="2467077"/>
            <a:ext cx="2457450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Flask-CORS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200775" y="2736754"/>
            <a:ext cx="2457450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Cross-origin request handling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357188" y="4437720"/>
            <a:ext cx="8429625" cy="348593"/>
          </a:xfrm>
          <a:prstGeom prst="rect">
            <a:avLst/>
          </a:prstGeom>
          <a:solidFill>
            <a:srgbClr val="00D9FF">
              <a:alpha val="2000"/>
            </a:srgbClr>
          </a:solidFill>
          <a:ln w="9144">
            <a:solidFill>
              <a:srgbClr val="00D9FF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357188" y="4437720"/>
            <a:ext cx="8429625" cy="34859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&gt; next_slide</a:t>
            </a:r>
            <a:r>
              <a:rPr lang="en-US" sz="621" dirty="0">
                <a:solidFill>
                  <a:srgbClr val="E0E0E0"/>
                </a:solidFill>
              </a:rPr>
              <a:t> — Environment, tools, and installation instructions follow in Part 2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6200775" y="20145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200775" y="246707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→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13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&gt; system_requirements --list --continued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584002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SOFTWARE REQUIREMENTS (PART 2)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080492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357188" y="1493044"/>
            <a:ext cx="4143375" cy="1155111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4344" y="1600200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ENVIRONMENT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64344" y="1807369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OS:</a:t>
            </a:r>
            <a:r>
              <a:rPr lang="en-US" sz="674" dirty="0">
                <a:solidFill>
                  <a:srgbClr val="E0E0E0"/>
                </a:solidFill>
              </a:rPr>
              <a:t>Windows / Linux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64344" y="2019895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Cross-platform compatibility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464344" y="2188471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Hardware:</a:t>
            </a:r>
            <a:r>
              <a:rPr lang="en-US" sz="674" dirty="0">
                <a:solidFill>
                  <a:srgbClr val="E0E0E0"/>
                </a:solidFill>
              </a:rPr>
              <a:t>Basic computer with internet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464344" y="2400998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Minimal resource requirements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4643438" y="1493044"/>
            <a:ext cx="4143375" cy="112653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344" y="1807369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64344" y="218847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750594" y="1600200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DEVELOPMENT TOOLS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750594" y="1807369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Editor:</a:t>
            </a:r>
            <a:r>
              <a:rPr lang="en-US" sz="674" dirty="0">
                <a:solidFill>
                  <a:srgbClr val="E0E0E0"/>
                </a:solidFill>
              </a:rPr>
              <a:t>VS Code / PyCharm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4750594" y="2019895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Integrated Development Environment for coding and debugging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357188" y="2762455"/>
            <a:ext cx="4143375" cy="1155111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0594" y="1807369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64344" y="2869611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ADDITIONAL TOOLS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64344" y="3076780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Package Manager:</a:t>
            </a:r>
            <a:r>
              <a:rPr lang="en-US" sz="674" dirty="0">
                <a:solidFill>
                  <a:srgbClr val="E0E0E0"/>
                </a:solidFill>
              </a:rPr>
              <a:t>pip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64344" y="3289306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Python package installation and management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64344" y="3457882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Version Control:</a:t>
            </a:r>
            <a:r>
              <a:rPr lang="en-US" sz="674" dirty="0">
                <a:solidFill>
                  <a:srgbClr val="E0E0E0"/>
                </a:solidFill>
              </a:rPr>
              <a:t>Git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64344" y="3670409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Source code management and repository access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643438" y="2762455"/>
            <a:ext cx="4143375" cy="1155111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344" y="3076780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64344" y="3457882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750594" y="2869611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RUNTIME ENVIRONMENT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750594" y="3076780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Python:</a:t>
            </a:r>
            <a:r>
              <a:rPr lang="en-US" sz="674" dirty="0">
                <a:solidFill>
                  <a:srgbClr val="E0E0E0"/>
                </a:solidFill>
              </a:rPr>
              <a:t>3.12+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4750594" y="3289306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Required for running the application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50594" y="3457882"/>
            <a:ext cx="392906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Port:</a:t>
            </a:r>
            <a:r>
              <a:rPr lang="en-US" sz="674" dirty="0">
                <a:solidFill>
                  <a:srgbClr val="E0E0E0"/>
                </a:solidFill>
              </a:rPr>
              <a:t>5000 (Flask server)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750594" y="3670409"/>
            <a:ext cx="3929063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Must be available and not blocked by firewall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357188" y="4139022"/>
            <a:ext cx="8429625" cy="1660168"/>
          </a:xfrm>
          <a:prstGeom prst="rect">
            <a:avLst/>
          </a:prstGeom>
          <a:solidFill>
            <a:srgbClr val="00FF41">
              <a:alpha val="3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0594" y="3076780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750594" y="3457882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→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64344" y="4246178"/>
            <a:ext cx="8215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INSTALLATION &amp; SETUP STEPS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464344" y="4453347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Install Python 3.12 from official website (python.org)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64344" y="4626220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Verify Python installation: python --version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464344" y="4799093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Install Flask and Flask-CORS: pip install flask flask-cors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64344" y="4971966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Clone project repository using Git: git clone &lt;repo-url&gt;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64344" y="5144839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Navigate to project directory: cd port_scanner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64344" y="5317713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Run application: python app.py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464344" y="5490586"/>
            <a:ext cx="8215313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Access web interface at: http://localhost:5000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464344" y="4453347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464344" y="4626220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464344" y="4799093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464344" y="4971966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464344" y="5144839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464344" y="5317713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464344" y="5490586"/>
            <a:ext cx="6714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✓</a:t>
            </a:r>
            <a:endParaRPr lang="en-US" sz="6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584002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BACKEND IMPLEMENTATION: CORE CLASS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080492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Text 3"/>
          <p:cNvSpPr/>
          <p:nvPr/>
        </p:nvSpPr>
        <p:spPr>
          <a:xfrm>
            <a:off x="357188" y="1385888"/>
            <a:ext cx="4107656" cy="21788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[CLASS] AdvancedPortScanner</a:t>
            </a:r>
            <a:endParaRPr lang="en-US" sz="734" dirty="0"/>
          </a:p>
        </p:txBody>
      </p:sp>
      <p:sp>
        <p:nvSpPr>
          <p:cNvPr id="7" name="Shape 4"/>
          <p:cNvSpPr/>
          <p:nvPr/>
        </p:nvSpPr>
        <p:spPr>
          <a:xfrm>
            <a:off x="357188" y="1689497"/>
            <a:ext cx="4107656" cy="1042988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775222"/>
            <a:ext cx="3936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FF41"/>
                </a:solidFill>
              </a:rPr>
              <a:t>classAdvancedPortScanner</a:t>
            </a:r>
            <a:r>
              <a:rPr lang="en-US" sz="621" dirty="0">
                <a:solidFill>
                  <a:srgbClr val="E0E0E0"/>
                </a:solidFill>
              </a:rPr>
              <a:t>: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42913" y="1946672"/>
            <a:ext cx="3936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__init__</a:t>
            </a:r>
            <a:r>
              <a:rPr lang="en-US" sz="621" dirty="0">
                <a:solidFill>
                  <a:srgbClr val="E0E0E0"/>
                </a:solidFill>
              </a:rPr>
              <a:t>(</a:t>
            </a:r>
            <a:r>
              <a:rPr lang="en-US" sz="621" dirty="0">
                <a:solidFill>
                  <a:srgbClr val="FF6B35"/>
                </a:solidFill>
              </a:rPr>
              <a:t>target</a:t>
            </a:r>
            <a:r>
              <a:rPr lang="en-US" sz="621" dirty="0">
                <a:solidFill>
                  <a:srgbClr val="E0E0E0"/>
                </a:solidFill>
              </a:rPr>
              <a:t>,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42913" y="2118122"/>
            <a:ext cx="3936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6B35"/>
                </a:solidFill>
              </a:rPr>
              <a:t>start_port</a:t>
            </a:r>
            <a:r>
              <a:rPr lang="en-US" sz="621" dirty="0">
                <a:solidFill>
                  <a:srgbClr val="E0E0E0"/>
                </a:solidFill>
              </a:rPr>
              <a:t>=1,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442913" y="2289572"/>
            <a:ext cx="3936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6B35"/>
                </a:solidFill>
              </a:rPr>
              <a:t>end_port</a:t>
            </a:r>
            <a:r>
              <a:rPr lang="en-US" sz="621" dirty="0">
                <a:solidFill>
                  <a:srgbClr val="E0E0E0"/>
                </a:solidFill>
              </a:rPr>
              <a:t>=1024,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442913" y="2461022"/>
            <a:ext cx="3936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6B35"/>
                </a:solidFill>
              </a:rPr>
              <a:t>threads</a:t>
            </a:r>
            <a:r>
              <a:rPr lang="en-US" sz="621" dirty="0">
                <a:solidFill>
                  <a:srgbClr val="E0E0E0"/>
                </a:solidFill>
              </a:rPr>
              <a:t>=50)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357188" y="2803922"/>
            <a:ext cx="4107656" cy="21788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CORE ATTRIBUTES: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357188" y="3107531"/>
            <a:ext cx="4107656" cy="148568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target</a:t>
            </a:r>
            <a:r>
              <a:rPr lang="en-US" sz="674" dirty="0">
                <a:solidFill>
                  <a:srgbClr val="E0E0E0"/>
                </a:solidFill>
              </a:rPr>
              <a:t> - IP or hostname to scan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357188" y="3327536"/>
            <a:ext cx="4107656" cy="148568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open_ports</a:t>
            </a:r>
            <a:r>
              <a:rPr lang="en-US" sz="674" dirty="0">
                <a:solidFill>
                  <a:srgbClr val="E0E0E0"/>
                </a:solidFill>
              </a:rPr>
              <a:t> - List of accessible ports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57188" y="3547542"/>
            <a:ext cx="4107656" cy="148568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banner_info</a:t>
            </a:r>
            <a:r>
              <a:rPr lang="en-US" sz="674" dirty="0">
                <a:solidFill>
                  <a:srgbClr val="E0E0E0"/>
                </a:solidFill>
              </a:rPr>
              <a:t> - Service banners per port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357188" y="3767547"/>
            <a:ext cx="4107656" cy="148568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lock</a:t>
            </a:r>
            <a:r>
              <a:rPr lang="en-US" sz="674" dirty="0">
                <a:solidFill>
                  <a:srgbClr val="E0E0E0"/>
                </a:solidFill>
              </a:rPr>
              <a:t> - Thread synchronization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357188" y="3107531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57188" y="3327536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57188" y="3547542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357188" y="3767547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679156" y="1385888"/>
            <a:ext cx="4107656" cy="21788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[METHODS] Core Scanning Logic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4679156" y="1689497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807744" y="1689497"/>
            <a:ext cx="39790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scan_port(port, host)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936331" y="1859496"/>
            <a:ext cx="385048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Performs TCP connection attempt on target port using socket.connect_ex()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679156" y="2042359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807744" y="2042359"/>
            <a:ext cx="39790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grab_banner(host, port)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936331" y="2212358"/>
            <a:ext cx="385048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Extracts service identification banner from open ports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679156" y="2395221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4807744" y="2395221"/>
            <a:ext cx="39790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get_service_name(port)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4936331" y="2565220"/>
            <a:ext cx="385048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Identifies service running on port using socket.getservbyport()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679156" y="2748083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807744" y="2748083"/>
            <a:ext cx="39790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detect_os_hints(ports)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936331" y="2918082"/>
            <a:ext cx="385048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Fingerprints OS based on open port signatures (SMB, SSH, RDP)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4679156" y="3100946"/>
            <a:ext cx="928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4807744" y="3100946"/>
            <a:ext cx="39790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scan_common_vulnerabilities()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4936331" y="3270945"/>
            <a:ext cx="385048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Detects dangerous services (Telnet, FTP, exposed databases)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357188" y="4378003"/>
            <a:ext cx="8429625" cy="408310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2913" y="4478015"/>
            <a:ext cx="8258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→ Next: Flask REST API endpoints, request/response formats, and multithreading architecture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031" y="25003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250031" y="462558"/>
            <a:ext cx="864393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BACKEND IMPLEMENTATION: FLASK API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250031" y="923330"/>
            <a:ext cx="8643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Text 3"/>
          <p:cNvSpPr/>
          <p:nvPr/>
        </p:nvSpPr>
        <p:spPr>
          <a:xfrm>
            <a:off x="250031" y="1157288"/>
            <a:ext cx="8643938" cy="20359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[FLASK API] REST Endpoints</a:t>
            </a:r>
            <a:endParaRPr lang="en-US" sz="734" dirty="0"/>
          </a:p>
        </p:txBody>
      </p:sp>
      <p:sp>
        <p:nvSpPr>
          <p:cNvPr id="7" name="Shape 4"/>
          <p:cNvSpPr/>
          <p:nvPr/>
        </p:nvSpPr>
        <p:spPr>
          <a:xfrm>
            <a:off x="250031" y="1432322"/>
            <a:ext cx="8643938" cy="900001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1469" y="1503759"/>
            <a:ext cx="85010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POST</a:t>
            </a:r>
            <a:r>
              <a:rPr lang="en-US" sz="584" b="1" dirty="0">
                <a:solidFill>
                  <a:srgbClr val="00D9FF"/>
                </a:solidFill>
              </a:rPr>
              <a:t>/api/scan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21469" y="1654113"/>
            <a:ext cx="15759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888888"/>
                </a:solidFill>
              </a:rPr>
              <a:t># Initiate port scan in background thread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321469" y="1802681"/>
            <a:ext cx="13222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Request: {"target": "192.168.1.1",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21469" y="1951248"/>
            <a:ext cx="13076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"start_port": 1, "end_port": 1024}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21469" y="2099816"/>
            <a:ext cx="14183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Response: {"status": "scan started"}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250031" y="2375185"/>
            <a:ext cx="8643938" cy="900001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1469" y="2446623"/>
            <a:ext cx="85010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GET</a:t>
            </a:r>
            <a:r>
              <a:rPr lang="en-US" sz="584" b="1" dirty="0">
                <a:solidFill>
                  <a:srgbClr val="00D9FF"/>
                </a:solidFill>
              </a:rPr>
              <a:t>/api/status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321469" y="2596976"/>
            <a:ext cx="15604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888888"/>
                </a:solidFill>
              </a:rPr>
              <a:t># Get real-time scan progress and results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321469" y="2745544"/>
            <a:ext cx="1755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Response: {"status": "scanning|completed",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21469" y="2894112"/>
            <a:ext cx="17623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"progress": 45.2, "open_ports": [22, 80, 443],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21469" y="3042679"/>
            <a:ext cx="1615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"banner_info": {...}, "vulnerabilities": [...]}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250031" y="3403774"/>
            <a:ext cx="8643938" cy="20359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[ARCHITECTURE] System Design</a:t>
            </a:r>
            <a:endParaRPr lang="en-US" sz="734" dirty="0"/>
          </a:p>
        </p:txBody>
      </p:sp>
      <p:sp>
        <p:nvSpPr>
          <p:cNvPr id="20" name="Shape 17"/>
          <p:cNvSpPr/>
          <p:nvPr/>
        </p:nvSpPr>
        <p:spPr>
          <a:xfrm>
            <a:off x="250031" y="3678808"/>
            <a:ext cx="4268391" cy="79008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50031" y="3678808"/>
            <a:ext cx="21431" cy="79008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9"/>
          <p:cNvSpPr/>
          <p:nvPr/>
        </p:nvSpPr>
        <p:spPr>
          <a:xfrm>
            <a:off x="321469" y="3750246"/>
            <a:ext cx="4125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D9FF"/>
                </a:solidFill>
              </a:rPr>
              <a:t>CONCURRENCY MODEL: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321469" y="3943127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Multithreading:</a:t>
            </a:r>
            <a:r>
              <a:rPr lang="en-US" sz="621" dirty="0">
                <a:solidFill>
                  <a:srgbClr val="E0E0E0"/>
                </a:solidFill>
              </a:rPr>
              <a:t> Concurrent port scanning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321469" y="4094569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Threading Lock:</a:t>
            </a:r>
            <a:r>
              <a:rPr lang="en-US" sz="621" dirty="0">
                <a:solidFill>
                  <a:srgbClr val="E0E0E0"/>
                </a:solidFill>
              </a:rPr>
              <a:t> Thread-safe data access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321469" y="4246011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Background Tasks:</a:t>
            </a:r>
            <a:r>
              <a:rPr lang="en-US" sz="621" dirty="0">
                <a:solidFill>
                  <a:srgbClr val="E0E0E0"/>
                </a:solidFill>
              </a:rPr>
              <a:t> Non-blocking API calls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625578" y="3678808"/>
            <a:ext cx="4268391" cy="79008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625578" y="3678808"/>
            <a:ext cx="21431" cy="79008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8" name="Text 25"/>
          <p:cNvSpPr/>
          <p:nvPr/>
        </p:nvSpPr>
        <p:spPr>
          <a:xfrm>
            <a:off x="321469" y="3943127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321469" y="4094569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321469" y="4246011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697016" y="3750246"/>
            <a:ext cx="4125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D9FF"/>
                </a:solidFill>
              </a:rPr>
              <a:t>DATA HANDLING: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697016" y="3943127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JSON Output:</a:t>
            </a:r>
            <a:r>
              <a:rPr lang="en-US" sz="621" dirty="0">
                <a:solidFill>
                  <a:srgbClr val="E0E0E0"/>
                </a:solidFill>
              </a:rPr>
              <a:t> Structured result format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697016" y="4094569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Real-time Updates:</a:t>
            </a:r>
            <a:r>
              <a:rPr lang="en-US" sz="621" dirty="0">
                <a:solidFill>
                  <a:srgbClr val="E0E0E0"/>
                </a:solidFill>
              </a:rPr>
              <a:t> Progress tracking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697016" y="4246011"/>
            <a:ext cx="4125516" cy="11572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CORS Enabled:</a:t>
            </a:r>
            <a:r>
              <a:rPr lang="en-US" sz="621" dirty="0">
                <a:solidFill>
                  <a:srgbClr val="E0E0E0"/>
                </a:solidFill>
              </a:rPr>
              <a:t> Cross-origin requests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697016" y="3943127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697016" y="4094569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4697016" y="4246011"/>
            <a:ext cx="857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→</a:t>
            </a:r>
            <a:endParaRPr lang="en-US" sz="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Project Output: Network Port Scanner</a:t>
            </a:r>
          </a:p>
        </p:txBody>
      </p:sp>
      <p:pic>
        <p:nvPicPr>
          <p:cNvPr id="3" name="Picture 2" descr="networkportscanneroutput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05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357188" y="584002"/>
            <a:ext cx="842962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FUTURE ENHANCEMENTS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357188" y="1080492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357188" y="1528763"/>
            <a:ext cx="4125516" cy="1730880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5775" y="1657350"/>
            <a:ext cx="3868341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PROTOCOL SUPPORT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85775" y="1975247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UDP Port Scanning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614363" y="2185988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Extend scanning capabilities to include UDP protocol for comprehensive port enumeration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485775" y="2354563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ICMP Ping Sweep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614363" y="2565304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Implement host discovery before port scanning to identify active targets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485775" y="2805317"/>
            <a:ext cx="3868341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FF41"/>
                </a:solidFill>
              </a:rPr>
              <a:t>Phase:</a:t>
            </a:r>
            <a:r>
              <a:rPr lang="en-US" sz="534" b="1" dirty="0">
                <a:solidFill>
                  <a:srgbClr val="FF6B35"/>
                </a:solidFill>
              </a:rPr>
              <a:t>HIGH PRIORITY</a:t>
            </a:r>
            <a:endParaRPr lang="en-US" sz="534" dirty="0"/>
          </a:p>
        </p:txBody>
      </p:sp>
      <p:sp>
        <p:nvSpPr>
          <p:cNvPr id="13" name="Shape 10"/>
          <p:cNvSpPr/>
          <p:nvPr/>
        </p:nvSpPr>
        <p:spPr>
          <a:xfrm>
            <a:off x="4661297" y="1528763"/>
            <a:ext cx="4125516" cy="1730880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5775" y="197524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485775" y="2354563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789884" y="1657350"/>
            <a:ext cx="3868341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ADVANCED FINGERPRINTING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4789884" y="1975247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OS Fingerprinting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4918472" y="2185988"/>
            <a:ext cx="3739753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Implement techniques similar to Nmap for more accurate OS detection and version identification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4789884" y="2465989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Service Version Detection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918472" y="2676730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Identify specific service versions running on open ports for vulnerability mapping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4789884" y="2916743"/>
            <a:ext cx="3868341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FF41"/>
                </a:solidFill>
              </a:rPr>
              <a:t>Phase:</a:t>
            </a:r>
            <a:r>
              <a:rPr lang="en-US" sz="534" b="1" dirty="0">
                <a:solidFill>
                  <a:srgbClr val="FF6B35"/>
                </a:solidFill>
              </a:rPr>
              <a:t>HIGH PRIORITY</a:t>
            </a:r>
            <a:endParaRPr lang="en-US" sz="534" dirty="0"/>
          </a:p>
        </p:txBody>
      </p:sp>
      <p:sp>
        <p:nvSpPr>
          <p:cNvPr id="22" name="Shape 19"/>
          <p:cNvSpPr/>
          <p:nvPr/>
        </p:nvSpPr>
        <p:spPr>
          <a:xfrm>
            <a:off x="357188" y="3409662"/>
            <a:ext cx="4125516" cy="2110197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9884" y="197524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789884" y="246598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85775" y="3538249"/>
            <a:ext cx="3868341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USER INTERFACE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485775" y="3856146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Full Frontend Dashboard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614363" y="4066887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Build professional web dashboard with real-time visualization of scan results and statistics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85775" y="4235462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Advanced Reporting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614363" y="4446203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Generate comprehensive PDF/HTML reports with graphs, charts, and security assessments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485775" y="4686216"/>
            <a:ext cx="3868341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FF41"/>
                </a:solidFill>
              </a:rPr>
              <a:t>Phase:</a:t>
            </a:r>
            <a:r>
              <a:rPr lang="en-US" sz="534" b="1" dirty="0">
                <a:solidFill>
                  <a:srgbClr val="00D9FF"/>
                </a:solidFill>
              </a:rPr>
              <a:t>MEDIUM PRIORITY</a:t>
            </a:r>
            <a:endParaRPr lang="en-US" sz="534" dirty="0"/>
          </a:p>
        </p:txBody>
      </p:sp>
      <p:sp>
        <p:nvSpPr>
          <p:cNvPr id="31" name="Shape 28"/>
          <p:cNvSpPr/>
          <p:nvPr/>
        </p:nvSpPr>
        <p:spPr>
          <a:xfrm>
            <a:off x="4661297" y="3409662"/>
            <a:ext cx="4125516" cy="2110197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5775" y="3856146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85775" y="423546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789884" y="3538249"/>
            <a:ext cx="3868341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SECURITY &amp; SCALABILITY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4789884" y="3856146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User Authentication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4918472" y="4066887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Implement JWT-based authentication for secure API usage and multi-user support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789884" y="4235462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Cloud Deployment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4918472" y="4446203"/>
            <a:ext cx="3739753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Deploy on AWS, Azure, or Google Cloud with containerization (Docker) and orchestration (Kubernetes)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4789884" y="4726205"/>
            <a:ext cx="38683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Logging &amp; Audit Trail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4918472" y="4936945"/>
            <a:ext cx="373975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E0E0E0"/>
                </a:solidFill>
              </a:rPr>
              <a:t>Comprehensive logging system for security audits and compliance tracking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4789884" y="5176958"/>
            <a:ext cx="3868341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FF41"/>
                </a:solidFill>
              </a:rPr>
              <a:t>Phase:</a:t>
            </a:r>
            <a:r>
              <a:rPr lang="en-US" sz="534" b="1" dirty="0">
                <a:solidFill>
                  <a:srgbClr val="00D9FF"/>
                </a:solidFill>
              </a:rPr>
              <a:t>MEDIUM PRIORITY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4789884" y="3856146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4789884" y="423546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4789884" y="47262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41"/>
                </a:solidFill>
              </a:rPr>
              <a:t>→</a:t>
            </a:r>
            <a:endParaRPr lang="en-US" sz="6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962" y="250031"/>
            <a:ext cx="64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250031" y="462558"/>
            <a:ext cx="86439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00FF41"/>
                </a:solidFill>
              </a:rPr>
              <a:t>PROJECT CONCLUSION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250031" y="1014413"/>
            <a:ext cx="8643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6" name="Shape 3"/>
          <p:cNvSpPr/>
          <p:nvPr/>
        </p:nvSpPr>
        <p:spPr>
          <a:xfrm>
            <a:off x="250031" y="1369814"/>
            <a:ext cx="4257675" cy="1262742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0044" y="1469827"/>
            <a:ext cx="4057650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SUCCESSFUL IMPLEMENTATION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50044" y="1802011"/>
            <a:ext cx="4057650" cy="26928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Demonstrated </a:t>
            </a:r>
            <a:r>
              <a:rPr lang="en-US" sz="634" b="1" dirty="0">
                <a:solidFill>
                  <a:srgbClr val="00D9FF"/>
                </a:solidFill>
              </a:rPr>
              <a:t>Python scripting mastery</a:t>
            </a:r>
            <a:r>
              <a:rPr lang="en-US" sz="674" dirty="0">
                <a:solidFill>
                  <a:srgbClr val="E0E0E0"/>
                </a:solidFill>
              </a:rPr>
              <a:t> through socket programming and network communication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350044" y="2121303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Built a </a:t>
            </a:r>
            <a:r>
              <a:rPr lang="en-US" sz="634" b="1" dirty="0">
                <a:solidFill>
                  <a:srgbClr val="00D9FF"/>
                </a:solidFill>
              </a:rPr>
              <a:t>fully functional port scanner</a:t>
            </a:r>
            <a:r>
              <a:rPr lang="en-US" sz="674" dirty="0">
                <a:solidFill>
                  <a:srgbClr val="E0E0E0"/>
                </a:solidFill>
              </a:rPr>
              <a:t> from scratch with advanced features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50044" y="2305952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Integrated </a:t>
            </a:r>
            <a:r>
              <a:rPr lang="en-US" sz="634" b="1" dirty="0">
                <a:solidFill>
                  <a:srgbClr val="00D9FF"/>
                </a:solidFill>
              </a:rPr>
              <a:t>Flask REST API</a:t>
            </a:r>
            <a:r>
              <a:rPr lang="en-US" sz="674" dirty="0">
                <a:solidFill>
                  <a:srgbClr val="E0E0E0"/>
                </a:solidFill>
              </a:rPr>
              <a:t> for modern web service architecture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636294" y="1369814"/>
            <a:ext cx="4257675" cy="1243682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0044" y="1802011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350044" y="2121303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350044" y="2305952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4736306" y="1469827"/>
            <a:ext cx="4057650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EFFICIENCY &amp; AUTOMATION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736306" y="1802011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Implemented </a:t>
            </a:r>
            <a:r>
              <a:rPr lang="en-US" sz="634" b="1" dirty="0">
                <a:solidFill>
                  <a:srgbClr val="00D9FF"/>
                </a:solidFill>
              </a:rPr>
              <a:t>multithreading</a:t>
            </a:r>
            <a:r>
              <a:rPr lang="en-US" sz="674" dirty="0">
                <a:solidFill>
                  <a:srgbClr val="E0E0E0"/>
                </a:solidFill>
              </a:rPr>
              <a:t> for concurrent port scanning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736306" y="1986660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Achieved </a:t>
            </a:r>
            <a:r>
              <a:rPr lang="en-US" sz="634" b="1" dirty="0">
                <a:solidFill>
                  <a:srgbClr val="00D9FF"/>
                </a:solidFill>
              </a:rPr>
              <a:t>faster scan times</a:t>
            </a:r>
            <a:r>
              <a:rPr lang="en-US" sz="674" dirty="0">
                <a:solidFill>
                  <a:srgbClr val="E0E0E0"/>
                </a:solidFill>
              </a:rPr>
              <a:t> compared to traditional methods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736306" y="2171309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Enabled </a:t>
            </a:r>
            <a:r>
              <a:rPr lang="en-US" sz="634" b="1" dirty="0">
                <a:solidFill>
                  <a:srgbClr val="00D9FF"/>
                </a:solidFill>
              </a:rPr>
              <a:t>automated security assessment</a:t>
            </a:r>
            <a:r>
              <a:rPr lang="en-US" sz="674" dirty="0">
                <a:solidFill>
                  <a:srgbClr val="E0E0E0"/>
                </a:solidFill>
              </a:rPr>
              <a:t> without manual intervention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250031" y="2742084"/>
            <a:ext cx="4257675" cy="1137642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306" y="1802011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736306" y="1986660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736306" y="2171309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350044" y="2842096"/>
            <a:ext cx="4057650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MODERN ARCHITECTURE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350044" y="3174281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Designed </a:t>
            </a:r>
            <a:r>
              <a:rPr lang="en-US" sz="634" b="1" dirty="0">
                <a:solidFill>
                  <a:srgbClr val="00D9FF"/>
                </a:solidFill>
              </a:rPr>
              <a:t>API-first approach</a:t>
            </a:r>
            <a:r>
              <a:rPr lang="en-US" sz="674" dirty="0">
                <a:solidFill>
                  <a:srgbClr val="E0E0E0"/>
                </a:solidFill>
              </a:rPr>
              <a:t> for seamless integration with other tools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50044" y="3358930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Provided </a:t>
            </a:r>
            <a:r>
              <a:rPr lang="en-US" sz="634" b="1" dirty="0">
                <a:solidFill>
                  <a:srgbClr val="00D9FF"/>
                </a:solidFill>
              </a:rPr>
              <a:t>JSON output format</a:t>
            </a:r>
            <a:r>
              <a:rPr lang="en-US" sz="674" dirty="0">
                <a:solidFill>
                  <a:srgbClr val="E0E0E0"/>
                </a:solidFill>
              </a:rPr>
              <a:t> for data portability and automation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50044" y="3543579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Created </a:t>
            </a:r>
            <a:r>
              <a:rPr lang="en-US" sz="634" b="1" dirty="0">
                <a:solidFill>
                  <a:srgbClr val="00D9FF"/>
                </a:solidFill>
              </a:rPr>
              <a:t>scalable and customizable</a:t>
            </a:r>
            <a:r>
              <a:rPr lang="en-US" sz="674" dirty="0">
                <a:solidFill>
                  <a:srgbClr val="E0E0E0"/>
                </a:solidFill>
              </a:rPr>
              <a:t> solution for diverse use cases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4636294" y="2742084"/>
            <a:ext cx="4257675" cy="1137642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0044" y="3174281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350044" y="3358930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350044" y="3543579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4736306" y="2851640"/>
            <a:ext cx="4057650" cy="26074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EDUCATIONAL VALUE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736306" y="3183824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Provided </a:t>
            </a:r>
            <a:r>
              <a:rPr lang="en-US" sz="634" b="1" dirty="0">
                <a:solidFill>
                  <a:srgbClr val="00D9FF"/>
                </a:solidFill>
              </a:rPr>
              <a:t>hands-on experience</a:t>
            </a:r>
            <a:r>
              <a:rPr lang="en-US" sz="674" dirty="0">
                <a:solidFill>
                  <a:srgbClr val="E0E0E0"/>
                </a:solidFill>
              </a:rPr>
              <a:t> with cybersecurity concepts and tools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736306" y="3368473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Demonstrated </a:t>
            </a:r>
            <a:r>
              <a:rPr lang="en-US" sz="634" b="1" dirty="0">
                <a:solidFill>
                  <a:srgbClr val="00D9FF"/>
                </a:solidFill>
              </a:rPr>
              <a:t>real-world application</a:t>
            </a:r>
            <a:r>
              <a:rPr lang="en-US" sz="674" dirty="0">
                <a:solidFill>
                  <a:srgbClr val="E0E0E0"/>
                </a:solidFill>
              </a:rPr>
              <a:t> of Python scripting in security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736306" y="3553123"/>
            <a:ext cx="4057650" cy="13464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E0E0E0"/>
                </a:solidFill>
              </a:rPr>
              <a:t>Created </a:t>
            </a:r>
            <a:r>
              <a:rPr lang="en-US" sz="634" b="1" dirty="0">
                <a:solidFill>
                  <a:srgbClr val="00D9FF"/>
                </a:solidFill>
              </a:rPr>
              <a:t>ideal learning resource</a:t>
            </a:r>
            <a:r>
              <a:rPr lang="en-US" sz="674" dirty="0">
                <a:solidFill>
                  <a:srgbClr val="E0E0E0"/>
                </a:solidFill>
              </a:rPr>
              <a:t> for security labs and courses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250031" y="4070235"/>
            <a:ext cx="8643938" cy="823233"/>
          </a:xfrm>
          <a:prstGeom prst="rect">
            <a:avLst/>
          </a:prstGeom>
          <a:solidFill>
            <a:srgbClr val="00FF41">
              <a:alpha val="8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6306" y="3183824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4736306" y="3368473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4736306" y="3553123"/>
            <a:ext cx="92869" cy="134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350044" y="4198823"/>
            <a:ext cx="84439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FF41"/>
                </a:solidFill>
              </a:rPr>
              <a:t>PROJECT IMPACT: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350044" y="4425637"/>
            <a:ext cx="8443913" cy="32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This Network Port Scanner represents a </a:t>
            </a:r>
            <a:r>
              <a:rPr lang="en-US" sz="734" b="1" dirty="0">
                <a:solidFill>
                  <a:srgbClr val="00FF41"/>
                </a:solidFill>
              </a:rPr>
              <a:t>complete, efficient, and scalable solution</a:t>
            </a:r>
            <a:r>
              <a:rPr lang="en-US" sz="727" dirty="0">
                <a:solidFill>
                  <a:srgbClr val="E0E0E0"/>
                </a:solidFill>
              </a:rPr>
              <a:t> for network security assessment. It successfully combines </a:t>
            </a:r>
            <a:r>
              <a:rPr lang="en-US" sz="683" b="1" dirty="0">
                <a:solidFill>
                  <a:srgbClr val="00D9FF"/>
                </a:solidFill>
              </a:rPr>
              <a:t>technical excellence</a:t>
            </a:r>
            <a:r>
              <a:rPr lang="en-US" sz="727" dirty="0">
                <a:solidFill>
                  <a:srgbClr val="E0E0E0"/>
                </a:solidFill>
              </a:rPr>
              <a:t> with </a:t>
            </a:r>
            <a:r>
              <a:rPr lang="en-US" sz="683" b="1" dirty="0">
                <a:solidFill>
                  <a:srgbClr val="00D9FF"/>
                </a:solidFill>
              </a:rPr>
              <a:t>educational value</a:t>
            </a:r>
            <a:r>
              <a:rPr lang="en-US" sz="727" dirty="0">
                <a:solidFill>
                  <a:srgbClr val="E0E0E0"/>
                </a:solidFill>
              </a:rPr>
              <a:t>, making it an </a:t>
            </a:r>
            <a:r>
              <a:rPr lang="en-US" sz="683" b="1" dirty="0">
                <a:solidFill>
                  <a:srgbClr val="FF6B35"/>
                </a:solidFill>
              </a:rPr>
              <a:t>invaluable tool</a:t>
            </a:r>
            <a:r>
              <a:rPr lang="en-US" sz="727" dirty="0">
                <a:solidFill>
                  <a:srgbClr val="E0E0E0"/>
                </a:solidFill>
              </a:rPr>
              <a:t> for cybersecurity professionals and students alike.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52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964" y="428625"/>
            <a:ext cx="64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2343150" y="798314"/>
            <a:ext cx="4457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00D9FF"/>
                </a:solidFill>
              </a:rPr>
              <a:t>┌─────────────────────────────────────┐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2831297" y="1228725"/>
            <a:ext cx="3481406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3" dirty="0">
                <a:solidFill>
                  <a:srgbClr val="00FF41"/>
                </a:solidFill>
              </a:rPr>
              <a:t>THANK YOU!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2343150" y="2131684"/>
            <a:ext cx="4457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00D9FF"/>
                </a:solidFill>
              </a:rPr>
              <a:t>└─────────────────────────────────────┘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2071688" y="2633532"/>
            <a:ext cx="5000625" cy="1404417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50281" y="2812126"/>
            <a:ext cx="46434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00D9FF"/>
                </a:solidFill>
              </a:rPr>
              <a:t>QUESTIONS &amp; DISCUSSION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2250281" y="3192531"/>
            <a:ext cx="4643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2250281" y="3405057"/>
            <a:ext cx="46434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We welcome your </a:t>
            </a:r>
            <a:r>
              <a:rPr lang="en-US" sz="784" b="1" dirty="0">
                <a:solidFill>
                  <a:srgbClr val="00FF41"/>
                </a:solidFill>
              </a:rPr>
              <a:t>questions, feedback, and suggestions</a:t>
            </a:r>
            <a:r>
              <a:rPr lang="en-US" sz="834" dirty="0">
                <a:solidFill>
                  <a:srgbClr val="E0E0E0"/>
                </a:solidFill>
              </a:rPr>
              <a:t> regarding the Network Port Scanner project.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3028810" y="4566586"/>
            <a:ext cx="3086379" cy="377168"/>
          </a:xfrm>
          <a:prstGeom prst="rect">
            <a:avLst/>
          </a:prstGeom>
          <a:solidFill>
            <a:srgbClr val="00D9FF">
              <a:alpha val="2000"/>
            </a:srgbClr>
          </a:solidFill>
          <a:ln w="9144">
            <a:solidFill>
              <a:srgbClr val="00D9F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143110" y="4673743"/>
            <a:ext cx="285777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→</a:t>
            </a:r>
            <a:r>
              <a:rPr lang="en-US" sz="674" dirty="0">
                <a:solidFill>
                  <a:srgbClr val="E0E0E0"/>
                </a:solidFill>
              </a:rPr>
              <a:t> Specific discussion prompts and Q&amp;A topics on next slide </a:t>
            </a:r>
            <a:r>
              <a:rPr lang="en-US" sz="634" b="1" dirty="0">
                <a:solidFill>
                  <a:srgbClr val="FF6B35"/>
                </a:solidFill>
              </a:rPr>
              <a:t>→</a:t>
            </a:r>
            <a:endParaRPr lang="en-US" sz="6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950" y="357188"/>
            <a:ext cx="64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2524004" y="584002"/>
            <a:ext cx="4095964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16" b="1" kern="0" spc="2" dirty="0">
                <a:solidFill>
                  <a:srgbClr val="00FF41"/>
                </a:solidFill>
              </a:rPr>
              <a:t>QUESTIONS &amp; DISCUSSION</a:t>
            </a:r>
            <a:endParaRPr lang="en-US" sz="2016" dirty="0"/>
          </a:p>
        </p:txBody>
      </p:sp>
      <p:sp>
        <p:nvSpPr>
          <p:cNvPr id="5" name="Shape 2"/>
          <p:cNvSpPr/>
          <p:nvPr/>
        </p:nvSpPr>
        <p:spPr>
          <a:xfrm>
            <a:off x="1756916" y="1176933"/>
            <a:ext cx="5630168" cy="3305770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78372" y="1398389"/>
            <a:ext cx="518725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00D9FF"/>
                </a:solidFill>
              </a:rPr>
              <a:t>ENGAGEMENT PROMPTS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978372" y="1778794"/>
            <a:ext cx="51872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1978372" y="1991320"/>
            <a:ext cx="51872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We welcome your </a:t>
            </a:r>
            <a:r>
              <a:rPr lang="en-US" sz="734" b="1" dirty="0">
                <a:solidFill>
                  <a:srgbClr val="00FF41"/>
                </a:solidFill>
              </a:rPr>
              <a:t>questions, feedback, and suggestions</a:t>
            </a:r>
            <a:r>
              <a:rPr lang="en-US" sz="780" dirty="0">
                <a:solidFill>
                  <a:srgbClr val="E0E0E0"/>
                </a:solidFill>
              </a:rPr>
              <a:t> regarding the Network Port Scanner project.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1978372" y="2291358"/>
            <a:ext cx="5187255" cy="278606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978372" y="2291358"/>
            <a:ext cx="21431" cy="2786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978372" y="2291358"/>
            <a:ext cx="518725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[Q1]</a:t>
            </a:r>
            <a:r>
              <a:rPr lang="en-US" sz="727" dirty="0">
                <a:solidFill>
                  <a:srgbClr val="E0E0E0"/>
                </a:solidFill>
              </a:rPr>
              <a:t> How would you extend this scanner for your use case?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1978372" y="2641402"/>
            <a:ext cx="5187255" cy="278606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978372" y="2641402"/>
            <a:ext cx="21431" cy="2786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1978372" y="2641402"/>
            <a:ext cx="518725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[Q2]</a:t>
            </a:r>
            <a:r>
              <a:rPr lang="en-US" sz="727" dirty="0">
                <a:solidFill>
                  <a:srgbClr val="E0E0E0"/>
                </a:solidFill>
              </a:rPr>
              <a:t> What additional security features would be valuable?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1978372" y="2991445"/>
            <a:ext cx="5187255" cy="278606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978372" y="2991445"/>
            <a:ext cx="21431" cy="2786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1978372" y="2991445"/>
            <a:ext cx="518725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[Q3]</a:t>
            </a:r>
            <a:r>
              <a:rPr lang="en-US" sz="727" dirty="0">
                <a:solidFill>
                  <a:srgbClr val="E0E0E0"/>
                </a:solidFill>
              </a:rPr>
              <a:t> How could this integrate with your existing tools?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1978372" y="3341489"/>
            <a:ext cx="5187255" cy="278606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978372" y="3341489"/>
            <a:ext cx="21431" cy="2786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1978372" y="3341489"/>
            <a:ext cx="518725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[Q4]</a:t>
            </a:r>
            <a:r>
              <a:rPr lang="en-US" sz="727" dirty="0">
                <a:solidFill>
                  <a:srgbClr val="E0E0E0"/>
                </a:solidFill>
              </a:rPr>
              <a:t> What challenges did you encounter in similar projects?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1978372" y="3727252"/>
            <a:ext cx="51872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00D9FF"/>
                </a:solidFill>
              </a:rPr>
              <a:t>════════════════════════════════════════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1978372" y="3961209"/>
            <a:ext cx="51872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41"/>
                </a:solidFill>
              </a:rPr>
              <a:t>Let's discuss</a:t>
            </a:r>
            <a:r>
              <a:rPr lang="en-US" sz="780" dirty="0">
                <a:solidFill>
                  <a:srgbClr val="E0E0E0"/>
                </a:solidFill>
              </a:rPr>
              <a:t> the implementation, design decisions, and future possibilities!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3311044" y="4650581"/>
            <a:ext cx="25219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D9FF"/>
                </a:solidFill>
              </a:rPr>
              <a:t>Thank you for your attention and engagement!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1582</Words>
  <Application>Microsoft Office PowerPoint</Application>
  <PresentationFormat>On-screen Show (16:9)</PresentationFormat>
  <Paragraphs>355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prasadkurra07@gmail.com</cp:lastModifiedBy>
  <cp:revision>13</cp:revision>
  <dcterms:created xsi:type="dcterms:W3CDTF">2025-11-17T02:48:11Z</dcterms:created>
  <dcterms:modified xsi:type="dcterms:W3CDTF">2025-11-17T03:22:36Z</dcterms:modified>
</cp:coreProperties>
</file>